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consolata Medium"/>
      <p:regular r:id="rId201314"/>
    </p:embeddedFont>
    <p:embeddedFont>
      <p:font typeface="Inconsolata"/>
      <p:regular r:id="rId201315"/>
    </p:embeddedFont>
    <p:embeddedFont>
      <p:font typeface="Inconsolata ExtraBold"/>
      <p:regular r:id="rId201316"/>
    </p:embeddedFont>
    <p:embeddedFont>
      <p:font typeface="Inconsolata Black"/>
      <p:regular r:id="rId201317"/>
    </p:embeddedFont>
    <p:embeddedFont>
      <p:font typeface="Inconsolata ExtraLight"/>
      <p:regular r:id="rId201318"/>
    </p:embeddedFont>
    <p:embeddedFont>
      <p:font typeface="Inconsolata Light"/>
      <p:regular r:id="rId201319"/>
    </p:embeddedFont>
    <p:embeddedFont>
      <p:font typeface="Inconsolata SemiBold"/>
      <p:regular r:id="rId201320"/>
    </p:embeddedFont>
    <p:embeddedFont>
      <p:font typeface="Inconsolata Bold"/>
      <p:regular r:id="rId201321"/>
    </p:embeddedFont>
    <p:embeddedFont>
      <p:font typeface="Montserrat Thin"/>
      <p:regular r:id="rId201322"/>
    </p:embeddedFont>
    <p:embeddedFont>
      <p:font typeface="Montserrat"/>
      <p:regular r:id="rId201323"/>
    </p:embeddedFont>
    <p:embeddedFont>
      <p:font typeface="Montserrat SemiBold"/>
      <p:regular r:id="rId201324"/>
    </p:embeddedFont>
    <p:embeddedFont>
      <p:font typeface="Montserrat Bold"/>
      <p:regular r:id="rId201325"/>
    </p:embeddedFont>
    <p:embeddedFont>
      <p:font typeface="Montserrat Black"/>
      <p:regular r:id="rId201326"/>
    </p:embeddedFont>
    <p:embeddedFont>
      <p:font typeface="Montserrat Light"/>
      <p:regular r:id="rId201327"/>
    </p:embeddedFont>
    <p:embeddedFont>
      <p:font typeface="Montserrat ExtraLight"/>
      <p:regular r:id="rId201328"/>
    </p:embeddedFont>
    <p:embeddedFont>
      <p:font typeface="Montserrat Medium"/>
      <p:regular r:id="rId201329"/>
    </p:embeddedFont>
    <p:embeddedFont>
      <p:font typeface="Montserrat ExtraBold"/>
      <p:regular r:id="rId2013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7.png"/><Relationship Id="rId10" Type="http://schemas.openxmlformats.org/officeDocument/2006/relationships/image" Target="../media/image-3-8.svg"/><Relationship Id="rId11" Type="http://schemas.openxmlformats.org/officeDocument/2006/relationships/image" Target="../media/image-3-7.png"/><Relationship Id="rId12" Type="http://schemas.openxmlformats.org/officeDocument/2006/relationships/image" Target="../media/image-3-8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image" Target="../media/image-6-2.png"/><Relationship Id="rId7" Type="http://schemas.openxmlformats.org/officeDocument/2006/relationships/image" Target="../media/image-6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image" Target="../media/image-7-10.png"/><Relationship Id="rId11" Type="http://schemas.openxmlformats.org/officeDocument/2006/relationships/image" Target="../media/image-7-11.svg"/><Relationship Id="rId12" Type="http://schemas.openxmlformats.org/officeDocument/2006/relationships/image" Target="../media/image-7-10.png"/><Relationship Id="rId13" Type="http://schemas.openxmlformats.org/officeDocument/2006/relationships/image" Target="../media/image-7-11.svg"/><Relationship Id="rId14" Type="http://schemas.openxmlformats.org/officeDocument/2006/relationships/image" Target="../media/image-7-10.png"/><Relationship Id="rId15" Type="http://schemas.openxmlformats.org/officeDocument/2006/relationships/image" Target="../media/image-7-11.sv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dn.gamma.app/0y8zhlx1f9e6wo2/15c716b4ff674de398bc4a7e1f4b2400/file/PhonePe_Project_Report.pdf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010271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PhonePe Digital Payment Analytics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3109813"/>
            <a:ext cx="629686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Power BI Dashboard Project — Aryan Rai, Data Analyst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233360" y="3616325"/>
            <a:ext cx="629686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An end-to-end business intelligence solution analyzing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₹3,333M in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across PhonePe's four core service categories — built to surface actionable insights for product, operations, and growth teams.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233360" y="4596209"/>
            <a:ext cx="727454" cy="251420"/>
          </a:xfrm>
          <a:prstGeom prst="roundRect">
            <a:avLst>
              <a:gd name="adj" fmla="val 3031"/>
            </a:avLst>
          </a:prstGeom>
          <a:solidFill>
            <a:srgbClr val="E4E6E7"/>
          </a:solidFill>
          <a:ln/>
        </p:spPr>
      </p:sp>
      <p:sp>
        <p:nvSpPr>
          <p:cNvPr id="7" name="Text 4"/>
          <p:cNvSpPr/>
          <p:nvPr/>
        </p:nvSpPr>
        <p:spPr>
          <a:xfrm>
            <a:off x="5332577" y="4645819"/>
            <a:ext cx="1138606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POWER BI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043461" y="4596209"/>
            <a:ext cx="396865" cy="251420"/>
          </a:xfrm>
          <a:prstGeom prst="roundRect">
            <a:avLst>
              <a:gd name="adj" fmla="val 3031"/>
            </a:avLst>
          </a:prstGeom>
          <a:noFill/>
          <a:ln w="6350">
            <a:solidFill>
              <a:srgbClr val="15161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42678" y="4645819"/>
            <a:ext cx="808017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DAX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522974" y="4596209"/>
            <a:ext cx="925886" cy="251420"/>
          </a:xfrm>
          <a:prstGeom prst="roundRect">
            <a:avLst>
              <a:gd name="adj" fmla="val 3031"/>
            </a:avLst>
          </a:prstGeom>
          <a:noFill/>
          <a:ln w="6350">
            <a:solidFill>
              <a:srgbClr val="15161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22190" y="4645819"/>
            <a:ext cx="1337038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POWER QUERY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531507" y="4596209"/>
            <a:ext cx="529120" cy="251420"/>
          </a:xfrm>
          <a:prstGeom prst="roundRect">
            <a:avLst>
              <a:gd name="adj" fmla="val 3031"/>
            </a:avLst>
          </a:prstGeom>
          <a:noFill/>
          <a:ln w="6350">
            <a:solidFill>
              <a:srgbClr val="15161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30723" y="4645819"/>
            <a:ext cx="940273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EXCEL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143274" y="4596209"/>
            <a:ext cx="1124220" cy="251420"/>
          </a:xfrm>
          <a:prstGeom prst="roundRect">
            <a:avLst>
              <a:gd name="adj" fmla="val 3031"/>
            </a:avLst>
          </a:prstGeom>
          <a:noFill/>
          <a:ln w="6350">
            <a:solidFill>
              <a:srgbClr val="15161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42491" y="4645819"/>
            <a:ext cx="1535372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DATA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1665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Project Overview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325662"/>
            <a:ext cx="5805243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Objective &amp; Business Problem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61475" y="1720453"/>
            <a:ext cx="5805243" cy="122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Build an interactive Power BI dashboard to analyze PhonePe transactions and generate actionable business insights across four service verticals. The core challenge: understand transaction trends, monitor KPIs, identify payment failure patterns, and evaluate service performance — all from a single unified view.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114179"/>
            <a:ext cx="5805243" cy="14825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3782" y="3290292"/>
            <a:ext cx="537682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Dataset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3782" y="3685084"/>
            <a:ext cx="5376827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~50,000 transaction records in Excel covering Insurance, Loans, Money Transfer, and Recharge &amp; Bills — January through December 2024.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745930"/>
            <a:ext cx="5805243" cy="148252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3782" y="4922044"/>
            <a:ext cx="537682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Deliverables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913782" y="5316835"/>
            <a:ext cx="5376827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5-page interactive dashboard (Home, Insurance, Loans, Money Transfer, Recharge &amp; Bills) with KPI cards, slicers, bar charts, pie charts, and area charts.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743234" y="1176437"/>
            <a:ext cx="4906443" cy="5219898"/>
          </a:xfrm>
          <a:prstGeom prst="roundRect">
            <a:avLst>
              <a:gd name="adj" fmla="val 155"/>
            </a:avLst>
          </a:prstGeom>
          <a:solidFill>
            <a:srgbClr val="151617"/>
          </a:solidFill>
          <a:ln/>
        </p:spPr>
      </p:sp>
      <p:sp>
        <p:nvSpPr>
          <p:cNvPr id="12" name="Text 8"/>
          <p:cNvSpPr/>
          <p:nvPr/>
        </p:nvSpPr>
        <p:spPr>
          <a:xfrm>
            <a:off x="6900293" y="1325662"/>
            <a:ext cx="459232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Tools &amp; Stack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900293" y="1739106"/>
            <a:ext cx="2221551" cy="1211957"/>
          </a:xfrm>
          <a:prstGeom prst="roundRect">
            <a:avLst>
              <a:gd name="adj" fmla="val 629"/>
            </a:avLst>
          </a:prstGeom>
          <a:solidFill>
            <a:srgbClr val="151617"/>
          </a:solidFill>
          <a:ln w="6350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20320" dir="2700000">
              <a:srgbClr val="151617">
                <a:alpha val="10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063702" y="1902520"/>
            <a:ext cx="1894733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Excel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063702" y="2297311"/>
            <a:ext cx="1894733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Raw data source &amp; cleaning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9271066" y="1739106"/>
            <a:ext cx="2221551" cy="1211957"/>
          </a:xfrm>
          <a:prstGeom prst="roundRect">
            <a:avLst>
              <a:gd name="adj" fmla="val 629"/>
            </a:avLst>
          </a:prstGeom>
          <a:solidFill>
            <a:srgbClr val="151617"/>
          </a:solidFill>
          <a:ln w="6350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20320" dir="2700000">
              <a:srgbClr val="151617">
                <a:alpha val="10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9434475" y="1902520"/>
            <a:ext cx="1894733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Power BI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9434475" y="2297311"/>
            <a:ext cx="1894733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Dashboard &amp; visualization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900293" y="3100288"/>
            <a:ext cx="2221551" cy="1211957"/>
          </a:xfrm>
          <a:prstGeom prst="roundRect">
            <a:avLst>
              <a:gd name="adj" fmla="val 629"/>
            </a:avLst>
          </a:prstGeom>
          <a:solidFill>
            <a:srgbClr val="151617"/>
          </a:solidFill>
          <a:ln w="6350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20320" dir="2700000">
              <a:srgbClr val="151617">
                <a:alpha val="10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7063702" y="3263702"/>
            <a:ext cx="1894733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Power Query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7063702" y="3658493"/>
            <a:ext cx="1894733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ETL &amp; transformation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9271066" y="3100288"/>
            <a:ext cx="2221551" cy="1211957"/>
          </a:xfrm>
          <a:prstGeom prst="roundRect">
            <a:avLst>
              <a:gd name="adj" fmla="val 629"/>
            </a:avLst>
          </a:prstGeom>
          <a:solidFill>
            <a:srgbClr val="151617"/>
          </a:solidFill>
          <a:ln w="6350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20320" dir="2700000">
              <a:srgbClr val="151617">
                <a:alpha val="100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9434475" y="3263702"/>
            <a:ext cx="1894733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DAX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9434475" y="3658493"/>
            <a:ext cx="1894733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Calculated measures &amp; KPIs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2192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Dataset Architecture &amp; Data Model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390154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Table Structure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715889"/>
            <a:ext cx="5273047" cy="13664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98732" y="1806178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12780" y="2237581"/>
            <a:ext cx="497043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All_Users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12780" y="2550021"/>
            <a:ext cx="497043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Master user table — User_ID, Name, Age, Join_Date. Acts as primary lookup for relationship modeling.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188097"/>
            <a:ext cx="5273047" cy="136644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198732" y="3278386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812780" y="3709789"/>
            <a:ext cx="497043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All_Transactions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12780" y="4022229"/>
            <a:ext cx="497043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Unified transaction log — Transaction_ID, Amount, User_ID, Service, Service Type, Payment Status, Reason, Date.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660305"/>
            <a:ext cx="5273047" cy="136644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198732" y="4750594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812780" y="5181997"/>
            <a:ext cx="497043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Service Tables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12780" y="5494437"/>
            <a:ext cx="497043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Recharge_Bills, Money_Transfer, Loans, Insurance — each with category-level columns (Loan Type, Transfer Type, Insurance Type, etc.).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6263523" y="1390154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 Model &amp; Cleaning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263523" y="1702594"/>
            <a:ext cx="527304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model follows a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star schema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All_Users and All_Transactions serve as fact/dimension tables linked to service-specific tables, enabling robust cross-filter analysis in Power BI.</a:t>
            </a:r>
            <a:endParaRPr lang="en-US" sz="10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13131" y="2397224"/>
            <a:ext cx="198433" cy="19843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693427" y="2393156"/>
            <a:ext cx="484314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Removed duplicates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693427" y="2705596"/>
            <a:ext cx="484314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Ensured transaction-level uniqueness across all 50K records.</a:t>
            </a:r>
            <a:endParaRPr lang="en-US" sz="1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13131" y="3111798"/>
            <a:ext cx="198433" cy="19843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693427" y="3107730"/>
            <a:ext cx="484314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Type corrections &amp; missing values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6693427" y="3420170"/>
            <a:ext cx="484314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Corrected data types, handled nulls, transformed date fields.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13131" y="3826371"/>
            <a:ext cx="198433" cy="19843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693427" y="3822303"/>
            <a:ext cx="484314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Month column via Power Query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6693427" y="4134743"/>
            <a:ext cx="484314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Derived for time-intelligence DAX measures and monthly trend visuals.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512465"/>
            <a:ext cx="5449950" cy="314275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3759994"/>
            <a:ext cx="10868745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Home Dashboard — Transaction Overview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1604823" y="4254401"/>
            <a:ext cx="3503922" cy="354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₹3,333M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661475" y="4715272"/>
            <a:ext cx="539071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Total Transaction Amount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61475" y="4925020"/>
            <a:ext cx="5390717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Across all services, Jan–Dec 2024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082851" y="4254401"/>
            <a:ext cx="3503922" cy="354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300K</a:t>
            </a:r>
            <a:endParaRPr lang="en-US" sz="2750" dirty="0"/>
          </a:p>
        </p:txBody>
      </p:sp>
      <p:sp>
        <p:nvSpPr>
          <p:cNvPr id="8" name="Text 5"/>
          <p:cNvSpPr/>
          <p:nvPr/>
        </p:nvSpPr>
        <p:spPr>
          <a:xfrm>
            <a:off x="6139503" y="4715272"/>
            <a:ext cx="539071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Total Transactions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139503" y="4925020"/>
            <a:ext cx="5390717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288K successful · 12K failed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604823" y="5260280"/>
            <a:ext cx="3503922" cy="354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96.75%</a:t>
            </a:r>
            <a:endParaRPr lang="en-US" sz="2750" dirty="0"/>
          </a:p>
        </p:txBody>
      </p:sp>
      <p:sp>
        <p:nvSpPr>
          <p:cNvPr id="11" name="Text 8"/>
          <p:cNvSpPr/>
          <p:nvPr/>
        </p:nvSpPr>
        <p:spPr>
          <a:xfrm>
            <a:off x="661475" y="5721152"/>
            <a:ext cx="539071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Success Rate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61475" y="5930900"/>
            <a:ext cx="5390717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Platform-wide payment reliability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082851" y="5260280"/>
            <a:ext cx="3503922" cy="354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Jul</a:t>
            </a:r>
            <a:endParaRPr lang="en-US" sz="2750" dirty="0"/>
          </a:p>
        </p:txBody>
      </p:sp>
      <p:sp>
        <p:nvSpPr>
          <p:cNvPr id="14" name="Text 11"/>
          <p:cNvSpPr/>
          <p:nvPr/>
        </p:nvSpPr>
        <p:spPr>
          <a:xfrm>
            <a:off x="6139503" y="5721152"/>
            <a:ext cx="539071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Peak Month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139503" y="5930900"/>
            <a:ext cx="5390717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₹333.3M — Feb was lowest at ₹278.9M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61475" y="6177558"/>
            <a:ext cx="1086874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Top Failure Reasons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520799"/>
            <a:ext cx="4738172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3277592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Insurance Dashboard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1176606" y="3909814"/>
            <a:ext cx="2403911" cy="382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₹512.9M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61475" y="4410472"/>
            <a:ext cx="3434272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Total Premium Collected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61475" y="4672310"/>
            <a:ext cx="3434272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Jan–Dec 2024, all insurance types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76606" y="5049639"/>
            <a:ext cx="2403911" cy="382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96.75%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61475" y="5550297"/>
            <a:ext cx="3434272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Success Rate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61475" y="5812135"/>
            <a:ext cx="3434272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47.80K successful · 2.12K failed transactions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61475" y="6060678"/>
            <a:ext cx="404385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384466" y="3833813"/>
            <a:ext cx="3434272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All four service categories contribute near-equally to total platform volume, underscoring PhonePe's balanced multi-vertical revenue model. Insurance leads marginally at ₹129.3M.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107457" y="3841849"/>
            <a:ext cx="3434272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Service Category Contribution (₹M)</a:t>
            </a:r>
            <a:endParaRPr lang="en-US" sz="1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7457" y="4113808"/>
            <a:ext cx="2403911" cy="21323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614462"/>
            <a:ext cx="5589646" cy="15582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312194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Loans Dashboard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61475" y="2932311"/>
            <a:ext cx="584155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Loan Types Tracked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61475" y="3230662"/>
            <a:ext cx="2874295" cy="721122"/>
          </a:xfrm>
          <a:prstGeom prst="roundRect">
            <a:avLst>
              <a:gd name="adj" fmla="val 1057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5240" dir="2700000">
              <a:srgbClr val="151617">
                <a:alpha val="10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91845" y="3361035"/>
            <a:ext cx="261355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Gold Loan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91845" y="3647777"/>
            <a:ext cx="2613555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Highest individual transaction amounts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628736" y="3230662"/>
            <a:ext cx="2874295" cy="721122"/>
          </a:xfrm>
          <a:prstGeom prst="roundRect">
            <a:avLst>
              <a:gd name="adj" fmla="val 1057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5240" dir="2700000">
              <a:srgbClr val="151617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759106" y="3361035"/>
            <a:ext cx="261355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Mutual Fund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759106" y="3647777"/>
            <a:ext cx="2613555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High-value transactions alongside Gold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61475" y="4044752"/>
            <a:ext cx="2874295" cy="721122"/>
          </a:xfrm>
          <a:prstGeom prst="roundRect">
            <a:avLst>
              <a:gd name="adj" fmla="val 1057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5240" dir="2700000">
              <a:srgbClr val="151617">
                <a:alpha val="1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91845" y="4175125"/>
            <a:ext cx="261355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Auto Loan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91845" y="4461867"/>
            <a:ext cx="2613555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Unique disbursement patterns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628736" y="4044752"/>
            <a:ext cx="2874295" cy="721122"/>
          </a:xfrm>
          <a:prstGeom prst="roundRect">
            <a:avLst>
              <a:gd name="adj" fmla="val 1057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5240" dir="2700000">
              <a:srgbClr val="151617">
                <a:alpha val="10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759106" y="4175125"/>
            <a:ext cx="261355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Credit Score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759106" y="4461867"/>
            <a:ext cx="2613555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Usage-linked loan eligibility tracking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61475" y="4870450"/>
            <a:ext cx="584155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DAX Measures Applied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61475" y="5157192"/>
            <a:ext cx="5841556" cy="792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Total Loan Amount</a:t>
            </a:r>
            <a:endParaRPr lang="en-US" sz="950" dirty="0"/>
          </a:p>
          <a:p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Success Rate %</a:t>
            </a:r>
            <a:endParaRPr lang="en-US" sz="950" dirty="0"/>
          </a:p>
          <a:p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Monthly Loan Trend</a:t>
            </a:r>
            <a:endParaRPr lang="en-US" sz="950" dirty="0"/>
          </a:p>
          <a:p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Failure Count by Reason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811991" y="2932311"/>
            <a:ext cx="4724480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Key Findings</a:t>
            </a:r>
            <a:endParaRPr lang="en-US" sz="12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11991" y="3230662"/>
            <a:ext cx="4724480" cy="90745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999509" y="3367385"/>
            <a:ext cx="440024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~₹1.03M/month baseline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999509" y="3654127"/>
            <a:ext cx="4400241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Consistent loan disbursement throughout the year — minimal seasonal variance except November.</a:t>
            </a:r>
            <a:endParaRPr lang="en-US" sz="95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11991" y="4231084"/>
            <a:ext cx="4724480" cy="90745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999509" y="4367808"/>
            <a:ext cx="440024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₹2.03M spike — November 2024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999509" y="4654550"/>
            <a:ext cx="4400241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Likely driven by festive season lending demand; 2× the monthly baseline, warrants infrastructure pre-planning.</a:t>
            </a:r>
            <a:endParaRPr lang="en-US" sz="9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11991" y="5231507"/>
            <a:ext cx="4724480" cy="90745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999509" y="5368230"/>
            <a:ext cx="440024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Primary failure: Payment Info errors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999509" y="5654973"/>
            <a:ext cx="4400241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Data entry or validation failures at submission — a UX/form-validation improvement opportunity.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666254"/>
            <a:ext cx="4770417" cy="12161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987153"/>
            <a:ext cx="10868745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Money Transfer Dashboard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1604823" y="2481560"/>
            <a:ext cx="3503922" cy="354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₹378.2M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661475" y="2942431"/>
            <a:ext cx="539071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Total Transfer Volume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61475" y="3152180"/>
            <a:ext cx="5390717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All methods combined, Jan–Dec 2024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082851" y="2481560"/>
            <a:ext cx="3503922" cy="354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~₹30M</a:t>
            </a:r>
            <a:endParaRPr lang="en-US" sz="2750" dirty="0"/>
          </a:p>
        </p:txBody>
      </p:sp>
      <p:sp>
        <p:nvSpPr>
          <p:cNvPr id="8" name="Text 5"/>
          <p:cNvSpPr/>
          <p:nvPr/>
        </p:nvSpPr>
        <p:spPr>
          <a:xfrm>
            <a:off x="6139503" y="2942431"/>
            <a:ext cx="539071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Per-Method Contribution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139503" y="3152180"/>
            <a:ext cx="5390717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UPI ID · Bank Account · QR Code · Mobile Number — near-equal split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604823" y="3487440"/>
            <a:ext cx="3503922" cy="354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100%</a:t>
            </a:r>
            <a:endParaRPr lang="en-US" sz="2750" dirty="0"/>
          </a:p>
        </p:txBody>
      </p:sp>
      <p:sp>
        <p:nvSpPr>
          <p:cNvPr id="11" name="Text 8"/>
          <p:cNvSpPr/>
          <p:nvPr/>
        </p:nvSpPr>
        <p:spPr>
          <a:xfrm>
            <a:off x="661475" y="3948311"/>
            <a:ext cx="539071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Failure Cause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61475" y="4158059"/>
            <a:ext cx="5390717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Insufficient Amount accounts for all failed transfers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082851" y="3487440"/>
            <a:ext cx="3503922" cy="354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₹2.03M</a:t>
            </a:r>
            <a:endParaRPr lang="en-US" sz="2750" dirty="0"/>
          </a:p>
        </p:txBody>
      </p:sp>
      <p:sp>
        <p:nvSpPr>
          <p:cNvPr id="14" name="Text 11"/>
          <p:cNvSpPr/>
          <p:nvPr/>
        </p:nvSpPr>
        <p:spPr>
          <a:xfrm>
            <a:off x="6139503" y="3948311"/>
            <a:ext cx="539071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November Peak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139503" y="4158059"/>
            <a:ext cx="5390717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Consistent with platform-wide seasonality; baseline ~₹1.03M/month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61475" y="4448373"/>
            <a:ext cx="530330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Transfer Methods</a:t>
            </a:r>
            <a:endParaRPr lang="en-US" sz="10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694833"/>
            <a:ext cx="268678" cy="2686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17463" y="4694833"/>
            <a:ext cx="225201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 QR Code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1017463" y="4932561"/>
            <a:ext cx="2252011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~₹30M — contactless merchant payments</a:t>
            </a:r>
            <a:endParaRPr lang="en-US" sz="8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56784" y="4694833"/>
            <a:ext cx="268678" cy="2686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712772" y="4694833"/>
            <a:ext cx="225201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 Bank Account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3712772" y="4932561"/>
            <a:ext cx="2252011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~₹30M — IMPS/NEFT equivalent transfers</a:t>
            </a:r>
            <a:endParaRPr lang="en-US" sz="8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5214144"/>
            <a:ext cx="268678" cy="2686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17463" y="5214144"/>
            <a:ext cx="225201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 UPI ID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1017463" y="5451872"/>
            <a:ext cx="2252011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~₹30M — P2P UPI address transfers</a:t>
            </a:r>
            <a:endParaRPr lang="en-US" sz="8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56784" y="5214144"/>
            <a:ext cx="268678" cy="2686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712772" y="5214144"/>
            <a:ext cx="225201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 Mobile Number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3712772" y="5451872"/>
            <a:ext cx="2252011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~₹30M — phone-linked instant transfers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6233262" y="4448373"/>
            <a:ext cx="530330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Visualization Approach</a:t>
            </a:r>
            <a:endParaRPr lang="en-US" sz="105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73544" y="4698157"/>
            <a:ext cx="161226" cy="16123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582503" y="4694833"/>
            <a:ext cx="495406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Line chart for monthly trends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6582503" y="4932561"/>
            <a:ext cx="4954067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Visualizes the baseline-to-November spike pattern across the full year.</a:t>
            </a:r>
            <a:endParaRPr lang="en-US" sz="8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73544" y="5217468"/>
            <a:ext cx="161226" cy="16123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582503" y="5214144"/>
            <a:ext cx="495406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Bar chart for method comparison</a:t>
            </a:r>
            <a:endParaRPr lang="en-US" sz="1050" dirty="0"/>
          </a:p>
        </p:txBody>
      </p:sp>
      <p:sp>
        <p:nvSpPr>
          <p:cNvPr id="35" name="Text 26"/>
          <p:cNvSpPr/>
          <p:nvPr/>
        </p:nvSpPr>
        <p:spPr>
          <a:xfrm>
            <a:off x="6582503" y="5451872"/>
            <a:ext cx="4954067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Highlights the equal contribution across all four transfer channels.</a:t>
            </a:r>
            <a:endParaRPr lang="en-US" sz="80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273544" y="5736779"/>
            <a:ext cx="161226" cy="16123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6582503" y="5733455"/>
            <a:ext cx="495406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Slicers for date range filtering</a:t>
            </a:r>
            <a:endParaRPr lang="en-US" sz="1050" dirty="0"/>
          </a:p>
        </p:txBody>
      </p:sp>
      <p:sp>
        <p:nvSpPr>
          <p:cNvPr id="38" name="Text 28"/>
          <p:cNvSpPr/>
          <p:nvPr/>
        </p:nvSpPr>
        <p:spPr>
          <a:xfrm>
            <a:off x="6582503" y="5971183"/>
            <a:ext cx="4954067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Enables drill-down by month, quarter, or custom range for ad hoc analysis.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738188"/>
            <a:ext cx="5180875" cy="15122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372023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Recharge &amp; Bills Dashboard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1288125" y="3004245"/>
            <a:ext cx="2924598" cy="382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₹48.7M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61475" y="3504902"/>
            <a:ext cx="4177997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Total Processed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61475" y="3766741"/>
            <a:ext cx="417799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All bill categories, Jan–Dec 2024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288125" y="4144070"/>
            <a:ext cx="2924598" cy="382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~₹10M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61475" y="4644727"/>
            <a:ext cx="4177997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Per-Category Split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61475" y="4906566"/>
            <a:ext cx="417799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Electricity · DTH · Mobile · Cable TV — near-equal distribution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61475" y="5155109"/>
            <a:ext cx="4177997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Key Business Insight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61475" y="5416947"/>
            <a:ext cx="4177997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Uniform distribution across bill types signals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broad user adoption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with no single utility dominating — indicative of a mature recurring-payment user base. The consistent low failure rate further confirms reliable payment infrastructure for everyday utility transactions.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128191" y="2936280"/>
            <a:ext cx="6408280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Bill Categories &amp; Patterns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128191" y="3208238"/>
            <a:ext cx="3163610" cy="820837"/>
          </a:xfrm>
          <a:prstGeom prst="roundRect">
            <a:avLst>
              <a:gd name="adj" fmla="val 928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5240" dir="2700000">
              <a:srgbClr val="151617">
                <a:alpha val="1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250227" y="3330277"/>
            <a:ext cx="291953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Electricity Bill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250227" y="3592116"/>
            <a:ext cx="2919538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~₹10M · Highest frequency, predictable monthly cadence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372762" y="3208238"/>
            <a:ext cx="3163709" cy="820837"/>
          </a:xfrm>
          <a:prstGeom prst="roundRect">
            <a:avLst>
              <a:gd name="adj" fmla="val 928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5240" dir="2700000">
              <a:srgbClr val="151617">
                <a:alpha val="10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494798" y="3330277"/>
            <a:ext cx="2919637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DTH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494798" y="3592116"/>
            <a:ext cx="2919637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~₹10M · Subscription renewals driving consistent volume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128191" y="4110038"/>
            <a:ext cx="3163610" cy="663377"/>
          </a:xfrm>
          <a:prstGeom prst="roundRect">
            <a:avLst>
              <a:gd name="adj" fmla="val 1149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5240" dir="2700000">
              <a:srgbClr val="151617">
                <a:alpha val="10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250227" y="4232077"/>
            <a:ext cx="291953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Mobile Bill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250227" y="4493915"/>
            <a:ext cx="2919538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~₹10M · Postpaid recharges and plan renewals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372762" y="4110038"/>
            <a:ext cx="3163709" cy="663377"/>
          </a:xfrm>
          <a:prstGeom prst="roundRect">
            <a:avLst>
              <a:gd name="adj" fmla="val 1149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5240" dir="2700000">
              <a:srgbClr val="151617">
                <a:alpha val="10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8494798" y="4232077"/>
            <a:ext cx="2919637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Cable TV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494798" y="4493915"/>
            <a:ext cx="291963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~₹10M · Steady despite OTT competition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128191" y="4864497"/>
            <a:ext cx="6408280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Failure Pattern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128191" y="5126335"/>
            <a:ext cx="6408280" cy="702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Insufficient Amount accounts for 100% of failed bill payments</a:t>
            </a:r>
            <a:pPr algn="l" indent="0" marL="0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mirroring Money Transfer failures and reinforcing the case for platform-wide pre-transaction balance validation.</a:t>
            </a:r>
            <a:endParaRPr lang="en-US" sz="9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Monthly baseline: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~₹1.03M/month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with a November peak of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₹2.03M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 No major seasonal spikes unlike Loans or Insurance.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5908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Key Insights &amp; Recommendations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61475" y="1160165"/>
            <a:ext cx="529318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Platform Diagnostics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432123"/>
            <a:ext cx="5293188" cy="8335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0659" y="1560513"/>
            <a:ext cx="4985617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96.75%+ Success Rate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40659" y="1822351"/>
            <a:ext cx="4985617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Platform reliability is strong. The 3.25% failure rate is concentrated in three fixable root causes: Wrong PIN, Wrong Info, and Server Errors — none structural.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346623"/>
            <a:ext cx="5293188" cy="83353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0659" y="2475012"/>
            <a:ext cx="4985617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Loans Drive Highest Value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40659" y="2736850"/>
            <a:ext cx="4985617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Loan services contribute the highest transaction amounts across all verticals — a key revenue segment to protect and scale with targeted reliability investments.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261122"/>
            <a:ext cx="5293188" cy="83353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0659" y="3389511"/>
            <a:ext cx="4985617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Seasonal Peaks: July &amp; November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840659" y="3651349"/>
            <a:ext cx="4985617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Both months consistently record 2× baseline transaction volume. Infrastructure scaling should be planned ahead of these windows to avoid Server Error spikes.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6243382" y="1160165"/>
            <a:ext cx="529318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Actionable Fixes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6243382" y="1432123"/>
            <a:ext cx="23147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6243382" y="1616075"/>
            <a:ext cx="5293188" cy="1270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6" name="Text 11"/>
          <p:cNvSpPr/>
          <p:nvPr/>
        </p:nvSpPr>
        <p:spPr>
          <a:xfrm>
            <a:off x="6243382" y="1699320"/>
            <a:ext cx="529318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Improve server uptime at peak hours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243382" y="1961158"/>
            <a:ext cx="5293188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Server Error causes 25.70% of all failures platform-wide and 33.60% in Insurance — direct uptime investment yields outsized reliability gains.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6243382" y="2443857"/>
            <a:ext cx="23147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243382" y="2627809"/>
            <a:ext cx="5293188" cy="1270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20" name="Text 15"/>
          <p:cNvSpPr/>
          <p:nvPr/>
        </p:nvSpPr>
        <p:spPr>
          <a:xfrm>
            <a:off x="6243382" y="2711053"/>
            <a:ext cx="529318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Add pre-transaction balance validation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243382" y="2972891"/>
            <a:ext cx="5293188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Insufficient Amount drives 100% of Money Transfer and Bills failures — a single validation layer eliminates this category entirely.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243382" y="3455591"/>
            <a:ext cx="23147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243382" y="3639542"/>
            <a:ext cx="5293188" cy="1270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24" name="Text 19"/>
          <p:cNvSpPr/>
          <p:nvPr/>
        </p:nvSpPr>
        <p:spPr>
          <a:xfrm>
            <a:off x="6243382" y="3722787"/>
            <a:ext cx="529318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Strengthen PIN/info validation UX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243382" y="3984625"/>
            <a:ext cx="5293188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Wrong PIN (27.52%) and Wrong Info (27.61%) together account for over 55% of failures — better inline UX prompts reduce these at no infrastructure cost.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6243382" y="4467324"/>
            <a:ext cx="23147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6243382" y="4651276"/>
            <a:ext cx="5293188" cy="1270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28" name="Text 23"/>
          <p:cNvSpPr/>
          <p:nvPr/>
        </p:nvSpPr>
        <p:spPr>
          <a:xfrm>
            <a:off x="6243382" y="4734520"/>
            <a:ext cx="529318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Optimize banking integrations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243382" y="4996359"/>
            <a:ext cx="5293188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Bank Denied failures (5.83%) require deeper integration-layer debugging with partner banks for smoother resolution pathways.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6243382" y="5489178"/>
            <a:ext cx="529318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Skills Demonstrated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6243382" y="5761137"/>
            <a:ext cx="370374" cy="176014"/>
          </a:xfrm>
          <a:prstGeom prst="roundRect">
            <a:avLst>
              <a:gd name="adj" fmla="val 4329"/>
            </a:avLst>
          </a:prstGeom>
          <a:solidFill>
            <a:srgbClr val="E4E6E7"/>
          </a:solidFill>
          <a:ln/>
        </p:spPr>
      </p:sp>
      <p:sp>
        <p:nvSpPr>
          <p:cNvPr id="32" name="Text 27"/>
          <p:cNvSpPr/>
          <p:nvPr/>
        </p:nvSpPr>
        <p:spPr>
          <a:xfrm>
            <a:off x="6312833" y="5795863"/>
            <a:ext cx="841056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EXCEL</a:t>
            </a:r>
            <a:endParaRPr lang="en-US" sz="700" dirty="0"/>
          </a:p>
        </p:txBody>
      </p:sp>
      <p:sp>
        <p:nvSpPr>
          <p:cNvPr id="33" name="Shape 28"/>
          <p:cNvSpPr/>
          <p:nvPr/>
        </p:nvSpPr>
        <p:spPr>
          <a:xfrm>
            <a:off x="6671600" y="5761137"/>
            <a:ext cx="509178" cy="176014"/>
          </a:xfrm>
          <a:prstGeom prst="roundRect">
            <a:avLst>
              <a:gd name="adj" fmla="val 4329"/>
            </a:avLst>
          </a:prstGeom>
          <a:solidFill>
            <a:srgbClr val="E4E6E7"/>
          </a:solidFill>
          <a:ln/>
        </p:spPr>
      </p:sp>
      <p:sp>
        <p:nvSpPr>
          <p:cNvPr id="34" name="Text 29"/>
          <p:cNvSpPr/>
          <p:nvPr/>
        </p:nvSpPr>
        <p:spPr>
          <a:xfrm>
            <a:off x="6741051" y="5795863"/>
            <a:ext cx="979860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POWER BI</a:t>
            </a:r>
            <a:endParaRPr lang="en-US" sz="700" dirty="0"/>
          </a:p>
        </p:txBody>
      </p:sp>
      <p:sp>
        <p:nvSpPr>
          <p:cNvPr id="35" name="Shape 30"/>
          <p:cNvSpPr/>
          <p:nvPr/>
        </p:nvSpPr>
        <p:spPr>
          <a:xfrm>
            <a:off x="7238620" y="5761137"/>
            <a:ext cx="648081" cy="176014"/>
          </a:xfrm>
          <a:prstGeom prst="roundRect">
            <a:avLst>
              <a:gd name="adj" fmla="val 4329"/>
            </a:avLst>
          </a:prstGeom>
          <a:solidFill>
            <a:srgbClr val="E4E6E7"/>
          </a:solidFill>
          <a:ln/>
        </p:spPr>
      </p:sp>
      <p:sp>
        <p:nvSpPr>
          <p:cNvPr id="36" name="Text 31"/>
          <p:cNvSpPr/>
          <p:nvPr/>
        </p:nvSpPr>
        <p:spPr>
          <a:xfrm>
            <a:off x="7308072" y="5795863"/>
            <a:ext cx="1118763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POWER QUERY</a:t>
            </a:r>
            <a:endParaRPr lang="en-US" sz="700" dirty="0"/>
          </a:p>
        </p:txBody>
      </p:sp>
      <p:sp>
        <p:nvSpPr>
          <p:cNvPr id="37" name="Shape 32"/>
          <p:cNvSpPr/>
          <p:nvPr/>
        </p:nvSpPr>
        <p:spPr>
          <a:xfrm>
            <a:off x="7944544" y="5761137"/>
            <a:ext cx="277806" cy="176014"/>
          </a:xfrm>
          <a:prstGeom prst="roundRect">
            <a:avLst>
              <a:gd name="adj" fmla="val 4329"/>
            </a:avLst>
          </a:prstGeom>
          <a:solidFill>
            <a:srgbClr val="E4E6E7"/>
          </a:solidFill>
          <a:ln/>
        </p:spPr>
      </p:sp>
      <p:sp>
        <p:nvSpPr>
          <p:cNvPr id="38" name="Text 33"/>
          <p:cNvSpPr/>
          <p:nvPr/>
        </p:nvSpPr>
        <p:spPr>
          <a:xfrm>
            <a:off x="8013996" y="5795863"/>
            <a:ext cx="748488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DAX</a:t>
            </a:r>
            <a:endParaRPr lang="en-US" sz="700" dirty="0"/>
          </a:p>
        </p:txBody>
      </p:sp>
      <p:sp>
        <p:nvSpPr>
          <p:cNvPr id="39" name="Shape 34"/>
          <p:cNvSpPr/>
          <p:nvPr/>
        </p:nvSpPr>
        <p:spPr>
          <a:xfrm>
            <a:off x="8280193" y="5761137"/>
            <a:ext cx="740649" cy="176014"/>
          </a:xfrm>
          <a:prstGeom prst="roundRect">
            <a:avLst>
              <a:gd name="adj" fmla="val 4329"/>
            </a:avLst>
          </a:prstGeom>
          <a:noFill/>
          <a:ln w="6350">
            <a:solidFill>
              <a:srgbClr val="151617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8349644" y="5795863"/>
            <a:ext cx="1211331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DATA CLEANING</a:t>
            </a:r>
            <a:endParaRPr lang="en-US" sz="700" dirty="0"/>
          </a:p>
        </p:txBody>
      </p:sp>
      <p:sp>
        <p:nvSpPr>
          <p:cNvPr id="41" name="Shape 36"/>
          <p:cNvSpPr/>
          <p:nvPr/>
        </p:nvSpPr>
        <p:spPr>
          <a:xfrm>
            <a:off x="9078685" y="5761137"/>
            <a:ext cx="740649" cy="176014"/>
          </a:xfrm>
          <a:prstGeom prst="roundRect">
            <a:avLst>
              <a:gd name="adj" fmla="val 4329"/>
            </a:avLst>
          </a:prstGeom>
          <a:noFill/>
          <a:ln w="6350">
            <a:solidFill>
              <a:srgbClr val="151617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9148137" y="5795863"/>
            <a:ext cx="1211331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KPI REPORTING</a:t>
            </a:r>
            <a:endParaRPr lang="en-US" sz="700" dirty="0"/>
          </a:p>
        </p:txBody>
      </p:sp>
      <p:sp>
        <p:nvSpPr>
          <p:cNvPr id="43" name="Shape 38"/>
          <p:cNvSpPr/>
          <p:nvPr/>
        </p:nvSpPr>
        <p:spPr>
          <a:xfrm>
            <a:off x="9877178" y="5761137"/>
            <a:ext cx="879453" cy="176014"/>
          </a:xfrm>
          <a:prstGeom prst="roundRect">
            <a:avLst>
              <a:gd name="adj" fmla="val 4329"/>
            </a:avLst>
          </a:prstGeom>
          <a:noFill/>
          <a:ln w="6350">
            <a:solidFill>
              <a:srgbClr val="151617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9946629" y="5795863"/>
            <a:ext cx="1350135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DASHBOARD DESIGN</a:t>
            </a:r>
            <a:endParaRPr lang="en-US" sz="700" dirty="0"/>
          </a:p>
        </p:txBody>
      </p:sp>
      <p:sp>
        <p:nvSpPr>
          <p:cNvPr id="45" name="Shape 40"/>
          <p:cNvSpPr/>
          <p:nvPr/>
        </p:nvSpPr>
        <p:spPr>
          <a:xfrm>
            <a:off x="6243382" y="5994995"/>
            <a:ext cx="972022" cy="176014"/>
          </a:xfrm>
          <a:prstGeom prst="roundRect">
            <a:avLst>
              <a:gd name="adj" fmla="val 4329"/>
            </a:avLst>
          </a:prstGeom>
          <a:noFill/>
          <a:ln w="6350">
            <a:solidFill>
              <a:srgbClr val="151617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6312833" y="6029722"/>
            <a:ext cx="1442704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BUSINESS ANALYTICS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50973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Sources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3357166"/>
            <a:ext cx="10868745" cy="990997"/>
          </a:xfrm>
          <a:prstGeom prst="roundRect">
            <a:avLst>
              <a:gd name="adj" fmla="val 769"/>
            </a:avLst>
          </a:prstGeom>
          <a:solidFill>
            <a:srgbClr val="F8ECE4"/>
          </a:solidFill>
          <a:ln w="19050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21590" dir="2700000">
              <a:srgbClr val="151617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45819" y="3541514"/>
            <a:ext cx="1050005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Project Report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5819" y="3899198"/>
            <a:ext cx="105000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u="sng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PhonePe_Project_Report.pdf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51617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2026-07-22T09:57:55Z</dcterms:created>
  <dcterms:modified xsi:type="dcterms:W3CDTF">2026-07-22T09:57:55Z</dcterms:modified>
</cp:coreProperties>
</file>